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6" r:id="rId6"/>
    <p:sldId id="260" r:id="rId7"/>
    <p:sldId id="267" r:id="rId8"/>
    <p:sldId id="261" r:id="rId9"/>
    <p:sldId id="268" r:id="rId10"/>
    <p:sldId id="269" r:id="rId11"/>
    <p:sldId id="270" r:id="rId12"/>
    <p:sldId id="262" r:id="rId13"/>
    <p:sldId id="271" r:id="rId14"/>
    <p:sldId id="272" r:id="rId15"/>
    <p:sldId id="273" r:id="rId16"/>
    <p:sldId id="263" r:id="rId17"/>
    <p:sldId id="264" r:id="rId18"/>
    <p:sldId id="275" r:id="rId19"/>
    <p:sldId id="274" r:id="rId20"/>
    <p:sldId id="276" r:id="rId21"/>
    <p:sldId id="278" r:id="rId22"/>
    <p:sldId id="265" r:id="rId23"/>
    <p:sldId id="277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FA0DF1F-D864-4C56-8830-6717A9943142}">
  <a:tblStyle styleId="{2FA0DF1F-D864-4C56-8830-6717A994314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667400058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/>
          </a:p>
        </p:txBody>
      </p:sp>
      <p:sp>
        <p:nvSpPr>
          <p:cNvPr id="91" name="Google Shape;91;g3f667400058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4FBAEC2B-3CE9-BAF6-B616-DE0868D83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>
            <a:extLst>
              <a:ext uri="{FF2B5EF4-FFF2-40B4-BE49-F238E27FC236}">
                <a16:creationId xmlns:a16="http://schemas.microsoft.com/office/drawing/2014/main" id="{80BEC335-EE58-086A-2099-F68EF6CB21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p4:notes">
            <a:extLst>
              <a:ext uri="{FF2B5EF4-FFF2-40B4-BE49-F238E27FC236}">
                <a16:creationId xmlns:a16="http://schemas.microsoft.com/office/drawing/2014/main" id="{8F070213-40FE-6064-2FB1-018BF97E22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886094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" name="Google Shape;1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04211889-1DE7-1CB2-888D-2762CF380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>
            <a:extLst>
              <a:ext uri="{FF2B5EF4-FFF2-40B4-BE49-F238E27FC236}">
                <a16:creationId xmlns:a16="http://schemas.microsoft.com/office/drawing/2014/main" id="{35E97D90-F549-97A7-40D9-5203B8A1F0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" name="Google Shape;126;p5:notes">
            <a:extLst>
              <a:ext uri="{FF2B5EF4-FFF2-40B4-BE49-F238E27FC236}">
                <a16:creationId xmlns:a16="http://schemas.microsoft.com/office/drawing/2014/main" id="{0BB86299-BD82-D054-8E6B-E5800419DD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707295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B823074D-6A1B-F6C8-FBD0-12C734119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>
            <a:extLst>
              <a:ext uri="{FF2B5EF4-FFF2-40B4-BE49-F238E27FC236}">
                <a16:creationId xmlns:a16="http://schemas.microsoft.com/office/drawing/2014/main" id="{A742C1C0-B93F-5BD3-6E87-6B090E79B6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p6:notes">
            <a:extLst>
              <a:ext uri="{FF2B5EF4-FFF2-40B4-BE49-F238E27FC236}">
                <a16:creationId xmlns:a16="http://schemas.microsoft.com/office/drawing/2014/main" id="{86A3AA7C-2F9A-9409-1D3F-A1E3E76657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270367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EE4EF2A0-96D7-05D6-3F2F-CFE3E842E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>
            <a:extLst>
              <a:ext uri="{FF2B5EF4-FFF2-40B4-BE49-F238E27FC236}">
                <a16:creationId xmlns:a16="http://schemas.microsoft.com/office/drawing/2014/main" id="{9051DAE1-9771-516C-A660-6093557197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p6:notes">
            <a:extLst>
              <a:ext uri="{FF2B5EF4-FFF2-40B4-BE49-F238E27FC236}">
                <a16:creationId xmlns:a16="http://schemas.microsoft.com/office/drawing/2014/main" id="{68EAF127-B6C8-CDDF-FC50-4EBB7695CF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070876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90DD1EB6-D10B-4F47-37FD-85E526D2E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>
            <a:extLst>
              <a:ext uri="{FF2B5EF4-FFF2-40B4-BE49-F238E27FC236}">
                <a16:creationId xmlns:a16="http://schemas.microsoft.com/office/drawing/2014/main" id="{D2F5212F-0117-F575-5E1C-F390BE603E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p6:notes">
            <a:extLst>
              <a:ext uri="{FF2B5EF4-FFF2-40B4-BE49-F238E27FC236}">
                <a16:creationId xmlns:a16="http://schemas.microsoft.com/office/drawing/2014/main" id="{F031F78F-8194-2210-BA81-31E3C64325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700501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" name="Google Shape;1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>
          <a:extLst>
            <a:ext uri="{FF2B5EF4-FFF2-40B4-BE49-F238E27FC236}">
              <a16:creationId xmlns:a16="http://schemas.microsoft.com/office/drawing/2014/main" id="{24FEF4FF-52DA-7F9A-68DB-C8AF3CF0F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>
            <a:extLst>
              <a:ext uri="{FF2B5EF4-FFF2-40B4-BE49-F238E27FC236}">
                <a16:creationId xmlns:a16="http://schemas.microsoft.com/office/drawing/2014/main" id="{7B50203B-294C-847B-20E7-FBB1DD657B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" name="Google Shape;144;p7:notes">
            <a:extLst>
              <a:ext uri="{FF2B5EF4-FFF2-40B4-BE49-F238E27FC236}">
                <a16:creationId xmlns:a16="http://schemas.microsoft.com/office/drawing/2014/main" id="{8F36553D-6F79-A189-9235-D1B30200CA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660941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1B21CD8F-BB4C-34AA-CB45-9F283D875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>
            <a:extLst>
              <a:ext uri="{FF2B5EF4-FFF2-40B4-BE49-F238E27FC236}">
                <a16:creationId xmlns:a16="http://schemas.microsoft.com/office/drawing/2014/main" id="{ADC5E557-EA5D-856D-0696-E7F9BA5615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p8:notes">
            <a:extLst>
              <a:ext uri="{FF2B5EF4-FFF2-40B4-BE49-F238E27FC236}">
                <a16:creationId xmlns:a16="http://schemas.microsoft.com/office/drawing/2014/main" id="{AC365447-AAE4-C8C3-D791-3EA1120B70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991961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40629E08-9AEB-C22B-A010-0FD9D5175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>
            <a:extLst>
              <a:ext uri="{FF2B5EF4-FFF2-40B4-BE49-F238E27FC236}">
                <a16:creationId xmlns:a16="http://schemas.microsoft.com/office/drawing/2014/main" id="{2C964D93-0593-B534-06F5-2264C8BBB6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p8:notes">
            <a:extLst>
              <a:ext uri="{FF2B5EF4-FFF2-40B4-BE49-F238E27FC236}">
                <a16:creationId xmlns:a16="http://schemas.microsoft.com/office/drawing/2014/main" id="{AD7A4C47-0631-B495-047F-6E7FDB3B71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445365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705B2B7F-FB0B-176E-16AB-827C54853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>
            <a:extLst>
              <a:ext uri="{FF2B5EF4-FFF2-40B4-BE49-F238E27FC236}">
                <a16:creationId xmlns:a16="http://schemas.microsoft.com/office/drawing/2014/main" id="{6B1BBEBD-8E90-21CB-6F92-8C3E70761D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p9:notes">
            <a:extLst>
              <a:ext uri="{FF2B5EF4-FFF2-40B4-BE49-F238E27FC236}">
                <a16:creationId xmlns:a16="http://schemas.microsoft.com/office/drawing/2014/main" id="{B638A044-2620-D9C8-8BCC-F9097B567D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232825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2D0CC62D-1E49-318E-6E33-1BB73A7CB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>
            <a:extLst>
              <a:ext uri="{FF2B5EF4-FFF2-40B4-BE49-F238E27FC236}">
                <a16:creationId xmlns:a16="http://schemas.microsoft.com/office/drawing/2014/main" id="{98698B89-C12A-1766-88A9-ABA25FCDD2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p9:notes">
            <a:extLst>
              <a:ext uri="{FF2B5EF4-FFF2-40B4-BE49-F238E27FC236}">
                <a16:creationId xmlns:a16="http://schemas.microsoft.com/office/drawing/2014/main" id="{4789E3BA-65AF-366B-BFB8-4FA79516F6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386382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5D447A57-B1CB-74CD-7738-B7577A061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>
            <a:extLst>
              <a:ext uri="{FF2B5EF4-FFF2-40B4-BE49-F238E27FC236}">
                <a16:creationId xmlns:a16="http://schemas.microsoft.com/office/drawing/2014/main" id="{28B41901-907A-F31C-0EC9-616D93C8C4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p9:notes">
            <a:extLst>
              <a:ext uri="{FF2B5EF4-FFF2-40B4-BE49-F238E27FC236}">
                <a16:creationId xmlns:a16="http://schemas.microsoft.com/office/drawing/2014/main" id="{7F34F6AA-8A48-1EBD-BD14-F1BA8F05B2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532123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>
          <a:extLst>
            <a:ext uri="{FF2B5EF4-FFF2-40B4-BE49-F238E27FC236}">
              <a16:creationId xmlns:a16="http://schemas.microsoft.com/office/drawing/2014/main" id="{2B3D172B-3560-1942-2BE8-1618B019C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>
            <a:extLst>
              <a:ext uri="{FF2B5EF4-FFF2-40B4-BE49-F238E27FC236}">
                <a16:creationId xmlns:a16="http://schemas.microsoft.com/office/drawing/2014/main" id="{DDB44BE8-F3A3-D0B2-9EE2-51408D744A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1" name="Google Shape;171;p10:notes">
            <a:extLst>
              <a:ext uri="{FF2B5EF4-FFF2-40B4-BE49-F238E27FC236}">
                <a16:creationId xmlns:a16="http://schemas.microsoft.com/office/drawing/2014/main" id="{E149442B-9896-A5EE-BF26-DE2F18CEDE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162022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1" name="Google Shape;17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>
          <a:extLst>
            <a:ext uri="{FF2B5EF4-FFF2-40B4-BE49-F238E27FC236}">
              <a16:creationId xmlns:a16="http://schemas.microsoft.com/office/drawing/2014/main" id="{D30C08A0-046A-9A22-4EC7-CC8AC893F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>
            <a:extLst>
              <a:ext uri="{FF2B5EF4-FFF2-40B4-BE49-F238E27FC236}">
                <a16:creationId xmlns:a16="http://schemas.microsoft.com/office/drawing/2014/main" id="{6861A4BD-EE7E-D995-B85E-0EC4E88D65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1" name="Google Shape;171;p10:notes">
            <a:extLst>
              <a:ext uri="{FF2B5EF4-FFF2-40B4-BE49-F238E27FC236}">
                <a16:creationId xmlns:a16="http://schemas.microsoft.com/office/drawing/2014/main" id="{8F8E26F5-5448-10E3-BABD-00501DFEF0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77042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1" name="Google Shape;21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26037" y="0"/>
            <a:ext cx="1965963" cy="568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8" name="Google Shape;28;p3" title="SOU_LOGO_new-removebg (1) (9)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815721" y="0"/>
            <a:ext cx="2376274" cy="51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2" name="Google Shape;42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91217" y="0"/>
            <a:ext cx="2066929" cy="5982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2" name="Google Shape;52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22907" y="1"/>
            <a:ext cx="2137230" cy="618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9" name="Google Shape;69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20764" y="0"/>
            <a:ext cx="2139373" cy="619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>
            <a:spLocks noGrp="1"/>
          </p:cNvSpPr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abstract/document/11498721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ink.springer.com/article/10.1007/s43681-026-01251-8" TargetMode="External"/><Relationship Id="rId5" Type="http://schemas.openxmlformats.org/officeDocument/2006/relationships/hyperlink" Target="https://ieeexplore.ieee.org/abstract/document/10816871" TargetMode="External"/><Relationship Id="rId4" Type="http://schemas.openxmlformats.org/officeDocument/2006/relationships/hyperlink" Target="https://link.springer.com/article/10.1007/s43621-025-02186-6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ailwindcss.com/docs" TargetMode="External"/><Relationship Id="rId5" Type="http://schemas.openxmlformats.org/officeDocument/2006/relationships/hyperlink" Target="https://react.dev/" TargetMode="External"/><Relationship Id="rId4" Type="http://schemas.openxmlformats.org/officeDocument/2006/relationships/hyperlink" Target="https://docs.python.org/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ongodb.com/docs/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numpy.org/doc/" TargetMode="External"/><Relationship Id="rId5" Type="http://schemas.openxmlformats.org/officeDocument/2006/relationships/hyperlink" Target="https://pandas.pydata.org/docs/" TargetMode="External"/><Relationship Id="rId4" Type="http://schemas.openxmlformats.org/officeDocument/2006/relationships/hyperlink" Target="https://www.php.net/docs.ph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3"/>
          <p:cNvPicPr preferRelativeResize="0"/>
          <p:nvPr/>
        </p:nvPicPr>
        <p:blipFill rotWithShape="1">
          <a:blip r:embed="rId3">
            <a:alphaModFix/>
          </a:blip>
          <a:srcRect r="2610"/>
          <a:stretch/>
        </p:blipFill>
        <p:spPr>
          <a:xfrm>
            <a:off x="-6199" y="28280"/>
            <a:ext cx="12192001" cy="57393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"/>
          <p:cNvSpPr/>
          <p:nvPr/>
        </p:nvSpPr>
        <p:spPr>
          <a:xfrm>
            <a:off x="-18600" y="3875476"/>
            <a:ext cx="12204300" cy="2982600"/>
          </a:xfrm>
          <a:prstGeom prst="rect">
            <a:avLst/>
          </a:prstGeom>
          <a:solidFill>
            <a:srgbClr val="95373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 New Roman"/>
              <a:buNone/>
            </a:pPr>
            <a:endParaRPr sz="3600" b="1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1041573" y="1308153"/>
            <a:ext cx="10580400" cy="2677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SzPts val="3700"/>
            </a:pPr>
            <a:r>
              <a:rPr lang="en-IN" sz="5400" b="1" i="0" u="none" strike="noStrike" cap="none" dirty="0">
                <a:solidFill>
                  <a:srgbClr val="6324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Minor Project-IR 1</a:t>
            </a:r>
            <a:endParaRPr sz="5400" b="1" i="0" u="none" strike="noStrike" cap="none" dirty="0">
              <a:solidFill>
                <a:srgbClr val="6324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lang="en-IN" sz="5400" b="1" i="0" u="none" strike="noStrike" cap="none" dirty="0">
                <a:solidFill>
                  <a:srgbClr val="6324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1010103494</a:t>
            </a:r>
            <a:endParaRPr sz="5400" b="1" i="0" u="none" strike="noStrike" cap="none" dirty="0">
              <a:solidFill>
                <a:srgbClr val="6324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lang="en-IN" sz="5400" b="1" i="0" u="none" strike="noStrike" cap="none" dirty="0" err="1">
                <a:solidFill>
                  <a:srgbClr val="6324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GreenPlus</a:t>
            </a:r>
            <a:endParaRPr sz="5400" b="1" i="0" u="none" strike="noStrike" cap="none" dirty="0">
              <a:solidFill>
                <a:srgbClr val="6324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6" name="Google Shape;96;p13" title="SOU_LOGO_new-removebg (1) (9)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98992" y="0"/>
            <a:ext cx="3292999" cy="712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7" name="Google Shape;97;p13"/>
          <p:cNvGraphicFramePr/>
          <p:nvPr>
            <p:extLst>
              <p:ext uri="{D42A27DB-BD31-4B8C-83A1-F6EECF244321}">
                <p14:modId xmlns:p14="http://schemas.microsoft.com/office/powerpoint/2010/main" val="3420845659"/>
              </p:ext>
            </p:extLst>
          </p:nvPr>
        </p:nvGraphicFramePr>
        <p:xfrm>
          <a:off x="1041575" y="3972530"/>
          <a:ext cx="10019325" cy="2895450"/>
        </p:xfrm>
        <a:graphic>
          <a:graphicData uri="http://schemas.openxmlformats.org/drawingml/2006/table">
            <a:tbl>
              <a:tblPr>
                <a:noFill/>
                <a:tableStyleId>{2FA0DF1F-D864-4C56-8830-6717A9943142}</a:tableStyleId>
              </a:tblPr>
              <a:tblGrid>
                <a:gridCol w="407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IN" sz="2300" b="1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Project ID</a:t>
                      </a:r>
                      <a:endParaRPr sz="2300" b="1" u="none" strike="noStrike" cap="none" dirty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 dirty="0"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14</a:t>
                      </a:r>
                      <a:endParaRPr sz="1900" u="none" strike="noStrike" cap="none" dirty="0"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IN" sz="2300" b="1" u="none" strike="noStrike" cap="none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Enrollment No</a:t>
                      </a:r>
                      <a:endParaRPr sz="2300" b="1" u="none" strike="noStrike" cap="none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 dirty="0"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2301031000061,2301031000078</a:t>
                      </a:r>
                      <a:endParaRPr sz="1900" u="none" strike="noStrike" cap="none" dirty="0"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IN" sz="2300" b="1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Name</a:t>
                      </a:r>
                      <a:endParaRPr sz="2300" b="1" u="none" strike="noStrike" cap="none" dirty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 dirty="0"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KRISHKUMAR KIRTIKUMAR PATEL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 dirty="0"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KUSH ASHWINBHAI PRAJAPATI</a:t>
                      </a:r>
                      <a:endParaRPr sz="1900" u="none" strike="noStrike" cap="none" dirty="0"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IN" sz="2300" b="1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Branch</a:t>
                      </a:r>
                      <a:endParaRPr sz="2300" b="1" u="none" strike="noStrike" cap="none" dirty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 dirty="0"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B.TECH (IT) –M2 </a:t>
                      </a: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IN" sz="2300" b="1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Guide Name</a:t>
                      </a:r>
                      <a:endParaRPr sz="2300" b="1" u="none" strike="noStrike" cap="none" dirty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 dirty="0"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MS. PARUL SHARMA</a:t>
                      </a:r>
                      <a:endParaRPr sz="1900" u="none" strike="noStrike" cap="none" dirty="0"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Index</a:t>
            </a:r>
            <a:endParaRPr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103" name="Google Shape;103;p14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Char char="•"/>
            </a:pPr>
            <a:r>
              <a:rPr lang="en-IN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Introduction</a:t>
            </a:r>
            <a:endParaRPr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Char char="•"/>
            </a:pPr>
            <a:r>
              <a:rPr lang="en-IN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Background and Motivation</a:t>
            </a:r>
            <a:endParaRPr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Char char="•"/>
            </a:pPr>
            <a:r>
              <a:rPr lang="en-IN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Relevance and Importance</a:t>
            </a:r>
            <a:endParaRPr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Char char="•"/>
            </a:pPr>
            <a:r>
              <a:rPr lang="en-IN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Literature review</a:t>
            </a:r>
            <a:endParaRPr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Char char="•"/>
            </a:pPr>
            <a:r>
              <a:rPr lang="en-IN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Objectives</a:t>
            </a:r>
            <a:endParaRPr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Char char="•"/>
            </a:pPr>
            <a:r>
              <a:rPr lang="en-IN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Required Tools and Technology</a:t>
            </a:r>
            <a:endParaRPr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Char char="•"/>
            </a:pPr>
            <a:r>
              <a:rPr lang="en-IN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Method/ Approach</a:t>
            </a:r>
            <a:endParaRPr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Char char="•"/>
            </a:pPr>
            <a:r>
              <a:rPr lang="en-IN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Bibliography</a:t>
            </a:r>
            <a:endParaRPr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104" name="Google Shape;104;p1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10-09-2025</a:t>
            </a:r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Introduction</a:t>
            </a:r>
            <a:endParaRPr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111" name="Google Shape;111;p15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>
              <a:spcBef>
                <a:spcPts val="0"/>
              </a:spcBef>
              <a:buSzPts val="3200"/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GreenPlus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AI-Powered Sustainable Energy &amp; Carbon Management Platform</a:t>
            </a:r>
          </a:p>
          <a:p>
            <a:pPr marL="0" lvl="0" indent="0" algn="just">
              <a:spcBef>
                <a:spcPts val="0"/>
              </a:spcBef>
              <a:buSzPts val="3200"/>
              <a:buNone/>
            </a:pPr>
            <a:endParaRPr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112" name="Google Shape;112;p1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10-09-2025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Google Shape;113;p1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3454400" y="6211669"/>
            <a:ext cx="6096000" cy="6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DEPARTMENT OF </a:t>
            </a:r>
            <a:r>
              <a:rPr lang="en-IN"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INFORMATION TECHNOLOGY</a:t>
            </a: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*Proprietary material of SILVER OAK UNIVERSITY</a:t>
            </a: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404454-5FB8-AD22-838A-EF9DF0FF5F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537765"/>
            <a:ext cx="10581705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Energy consumption and carbon emissions are increasing due to growing household and commercial energy requirements.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often lack a simple way to understand their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energy consumption, electricity cost, and carbon footprint together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GreenPlus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 smart web-based platform designed to analyze energy usage and its environmental impact.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and Machine Learning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predict energy consumption and provide meaningful insights.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GreenPlus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combines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energy analysis, electricity tariff calculation, carbon estimation, and personalized energy-saving recommendations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aims to help users make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data-driven and sustainable energy decisions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609600" y="28406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Background and Motivation</a:t>
            </a:r>
            <a:endParaRPr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120" name="Google Shape;120;p16"/>
          <p:cNvSpPr txBox="1">
            <a:spLocks noGrp="1"/>
          </p:cNvSpPr>
          <p:nvPr>
            <p:ph type="body" idx="1"/>
          </p:nvPr>
        </p:nvSpPr>
        <p:spPr>
          <a:xfrm>
            <a:off x="609600" y="1609628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11430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growth in electricity consumption increases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costs and carbon emissions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energy calculators mainly provide basic consumption or bill information.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often do not have a clear understanding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their daily energy usage affects cost and carbon emissions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factors such as appliances, usage patterns, environmental conditions, and renewable-energy usage can influence energy consumption.</a:t>
            </a:r>
          </a:p>
          <a:p>
            <a:pPr marL="3429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Char char="•"/>
            </a:pPr>
            <a:endParaRPr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121" name="Google Shape;121;p16"/>
          <p:cNvSpPr txBox="1">
            <a:spLocks noGrp="1"/>
          </p:cNvSpPr>
          <p:nvPr>
            <p:ph type="dt" idx="10"/>
          </p:nvPr>
        </p:nvSpPr>
        <p:spPr>
          <a:xfrm>
            <a:off x="609600" y="6365778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10-09-2025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Google Shape;122;p16"/>
          <p:cNvSpPr txBox="1">
            <a:spLocks noGrp="1"/>
          </p:cNvSpPr>
          <p:nvPr>
            <p:ph type="sldNum" idx="12"/>
          </p:nvPr>
        </p:nvSpPr>
        <p:spPr>
          <a:xfrm>
            <a:off x="8737600" y="6365778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3454400" y="6221096"/>
            <a:ext cx="6096000" cy="6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DEPARTMENT OF </a:t>
            </a:r>
            <a:r>
              <a:rPr lang="en-IN"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INFORMATION TECHNOLOGY</a:t>
            </a: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*Proprietary material of SILVER OAK UNIVERSITY</a:t>
            </a: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36E46285-4F6E-74D0-B3E5-04BD7BE21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>
            <a:extLst>
              <a:ext uri="{FF2B5EF4-FFF2-40B4-BE49-F238E27FC236}">
                <a16:creationId xmlns:a16="http://schemas.microsoft.com/office/drawing/2014/main" id="{7C7FE317-17D0-087C-F6EE-66EEBFEDDF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Background and Motivation</a:t>
            </a:r>
            <a:endParaRPr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120" name="Google Shape;120;p16">
            <a:extLst>
              <a:ext uri="{FF2B5EF4-FFF2-40B4-BE49-F238E27FC236}">
                <a16:creationId xmlns:a16="http://schemas.microsoft.com/office/drawing/2014/main" id="{06D70DF9-81C9-D8B5-C176-BCC95129CD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11430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single platform that connects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consumption, electricity cost, and carbon footprint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 models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consumption patterns and predict future energy usage.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users with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recommendations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reduce unnecessary energy consumption.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efficiency, renewable-energy adoption, and sustainable living with providing it`s basic knowledge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21" name="Google Shape;121;p16">
            <a:extLst>
              <a:ext uri="{FF2B5EF4-FFF2-40B4-BE49-F238E27FC236}">
                <a16:creationId xmlns:a16="http://schemas.microsoft.com/office/drawing/2014/main" id="{F6ACFE43-B851-32E2-D2FF-9D0C19F107A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10-09-2025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Google Shape;122;p16">
            <a:extLst>
              <a:ext uri="{FF2B5EF4-FFF2-40B4-BE49-F238E27FC236}">
                <a16:creationId xmlns:a16="http://schemas.microsoft.com/office/drawing/2014/main" id="{F1F94E67-E658-DEE1-1B33-046828C6CE5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Google Shape;123;p16">
            <a:extLst>
              <a:ext uri="{FF2B5EF4-FFF2-40B4-BE49-F238E27FC236}">
                <a16:creationId xmlns:a16="http://schemas.microsoft.com/office/drawing/2014/main" id="{A9E9CEAD-A4DA-89EE-DDD3-592F3C5BE41E}"/>
              </a:ext>
            </a:extLst>
          </p:cNvPr>
          <p:cNvSpPr txBox="1"/>
          <p:nvPr/>
        </p:nvSpPr>
        <p:spPr>
          <a:xfrm>
            <a:off x="3454400" y="6211669"/>
            <a:ext cx="6096000" cy="6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DEPARTMENT OF </a:t>
            </a:r>
            <a:r>
              <a:rPr lang="en-IN"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INFORMATION TECHNOLOGY</a:t>
            </a: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*Proprietary material of SILVER OAK UNIVERSITY</a:t>
            </a: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89418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Relevance and Importance</a:t>
            </a:r>
            <a:endParaRPr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129" name="Google Shape;129;p17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11430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Addresses the growing need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and sustainable energy management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consumption, electricity cost, and carbon emissions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one platform.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AI/ML-based analysis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provide more meaningful energy insights.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users understand the environmental impact of their energy usage.</a:t>
            </a:r>
          </a:p>
        </p:txBody>
      </p:sp>
      <p:sp>
        <p:nvSpPr>
          <p:cNvPr id="130" name="Google Shape;130;p1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10-09-2025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1" name="Google Shape;131;p1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3454400" y="6211669"/>
            <a:ext cx="6096000" cy="6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DEPARTMENT OF </a:t>
            </a:r>
            <a:r>
              <a:rPr lang="en-IN"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INFORMATION TECHNOLOGY</a:t>
            </a: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*Proprietary material of SILVER OAK UNIVERSITY</a:t>
            </a: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6C1644B5-1EE3-5068-31AB-D6AD267D6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>
            <a:extLst>
              <a:ext uri="{FF2B5EF4-FFF2-40B4-BE49-F238E27FC236}">
                <a16:creationId xmlns:a16="http://schemas.microsoft.com/office/drawing/2014/main" id="{8F96F894-63C9-6470-EA69-89C6951B48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Relevance and Importance</a:t>
            </a:r>
            <a:endParaRPr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129" name="Google Shape;129;p17">
            <a:extLst>
              <a:ext uri="{FF2B5EF4-FFF2-40B4-BE49-F238E27FC236}">
                <a16:creationId xmlns:a16="http://schemas.microsoft.com/office/drawing/2014/main" id="{58294FEC-FEC8-0E26-BB74-29E76D62B3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11430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identify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unnecessary or excessive energy consumption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users in making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 energy decisions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personalized recommendations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reducing energy consumption and carbon emissions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Encourages the use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renewable and green energy sources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Contributes toward a more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energy-efficient and sustainable future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30" name="Google Shape;130;p17">
            <a:extLst>
              <a:ext uri="{FF2B5EF4-FFF2-40B4-BE49-F238E27FC236}">
                <a16:creationId xmlns:a16="http://schemas.microsoft.com/office/drawing/2014/main" id="{D43D3A1D-54CE-A680-C8CD-BABEA203D1C4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10-09-2025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1" name="Google Shape;131;p17">
            <a:extLst>
              <a:ext uri="{FF2B5EF4-FFF2-40B4-BE49-F238E27FC236}">
                <a16:creationId xmlns:a16="http://schemas.microsoft.com/office/drawing/2014/main" id="{61CB66EC-DF05-C15A-F9B2-6A37436C190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Google Shape;132;p17">
            <a:extLst>
              <a:ext uri="{FF2B5EF4-FFF2-40B4-BE49-F238E27FC236}">
                <a16:creationId xmlns:a16="http://schemas.microsoft.com/office/drawing/2014/main" id="{BDEECA0A-FC63-52BB-1716-FDBEB115214B}"/>
              </a:ext>
            </a:extLst>
          </p:cNvPr>
          <p:cNvSpPr txBox="1"/>
          <p:nvPr/>
        </p:nvSpPr>
        <p:spPr>
          <a:xfrm>
            <a:off x="3454400" y="6211669"/>
            <a:ext cx="6096000" cy="6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DEPARTMENT OF </a:t>
            </a:r>
            <a:r>
              <a:rPr lang="en-IN"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INFORMATION TECHNOLOGY</a:t>
            </a: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*Proprietary material of SILVER OAK UNIVERSITY</a:t>
            </a: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10495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>
            <a:spLocks noGrp="1"/>
          </p:cNvSpPr>
          <p:nvPr>
            <p:ph type="title"/>
          </p:nvPr>
        </p:nvSpPr>
        <p:spPr>
          <a:xfrm>
            <a:off x="609600" y="28406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Literature Review</a:t>
            </a:r>
            <a:endParaRPr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138" name="Google Shape;138;p18"/>
          <p:cNvSpPr txBox="1">
            <a:spLocks noGrp="1"/>
          </p:cNvSpPr>
          <p:nvPr>
            <p:ph type="body" idx="1"/>
          </p:nvPr>
        </p:nvSpPr>
        <p:spPr>
          <a:xfrm>
            <a:off x="609600" y="1609628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Paper/System 1: Smart Energy Monitoring Systems</a:t>
            </a:r>
          </a:p>
          <a:p>
            <a:pPr marL="11430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energy consumption tracking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Appliance-level monitoring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usage visualization </a:t>
            </a:r>
          </a:p>
          <a:p>
            <a:pPr marL="11430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carbon footprint estimation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predictive analytics</a:t>
            </a:r>
          </a:p>
        </p:txBody>
      </p:sp>
      <p:sp>
        <p:nvSpPr>
          <p:cNvPr id="139" name="Google Shape;139;p18"/>
          <p:cNvSpPr txBox="1">
            <a:spLocks noGrp="1"/>
          </p:cNvSpPr>
          <p:nvPr>
            <p:ph type="dt" idx="10"/>
          </p:nvPr>
        </p:nvSpPr>
        <p:spPr>
          <a:xfrm>
            <a:off x="609600" y="6365778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10-09-2025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" name="Google Shape;140;p18"/>
          <p:cNvSpPr txBox="1">
            <a:spLocks noGrp="1"/>
          </p:cNvSpPr>
          <p:nvPr>
            <p:ph type="sldNum" idx="12"/>
          </p:nvPr>
        </p:nvSpPr>
        <p:spPr>
          <a:xfrm>
            <a:off x="8737600" y="6365778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3454400" y="6221096"/>
            <a:ext cx="6096000" cy="6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DEPARTMENT OF </a:t>
            </a:r>
            <a:r>
              <a:rPr lang="en-IN"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INFORMATION TECHNOLOGY</a:t>
            </a: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*Proprietary material of SILVER OAK UNIVERSITY</a:t>
            </a: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291D88BD-72C0-873E-149F-F8909F825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>
            <a:extLst>
              <a:ext uri="{FF2B5EF4-FFF2-40B4-BE49-F238E27FC236}">
                <a16:creationId xmlns:a16="http://schemas.microsoft.com/office/drawing/2014/main" id="{77E58FD1-3D0E-49C6-2786-697273979D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Literature Review</a:t>
            </a:r>
            <a:endParaRPr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138" name="Google Shape;138;p18">
            <a:extLst>
              <a:ext uri="{FF2B5EF4-FFF2-40B4-BE49-F238E27FC236}">
                <a16:creationId xmlns:a16="http://schemas.microsoft.com/office/drawing/2014/main" id="{DB762AC6-6AAD-D382-1181-4C11EE6BD2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Paper/System 2: Carbon Footprint Calculators</a:t>
            </a:r>
          </a:p>
          <a:p>
            <a:pPr marL="11430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Carbon emission estimation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impact awareness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Sustainability assessment </a:t>
            </a:r>
          </a:p>
          <a:p>
            <a:pPr marL="11430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predict future energy consumption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personalized recommendations</a:t>
            </a:r>
          </a:p>
        </p:txBody>
      </p:sp>
      <p:sp>
        <p:nvSpPr>
          <p:cNvPr id="139" name="Google Shape;139;p18">
            <a:extLst>
              <a:ext uri="{FF2B5EF4-FFF2-40B4-BE49-F238E27FC236}">
                <a16:creationId xmlns:a16="http://schemas.microsoft.com/office/drawing/2014/main" id="{1163E9BE-A754-F886-5251-5A8AAC21338A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IN"/>
              <a:t>10-09-2025</a:t>
            </a:r>
            <a:endParaRPr/>
          </a:p>
        </p:txBody>
      </p:sp>
      <p:sp>
        <p:nvSpPr>
          <p:cNvPr id="140" name="Google Shape;140;p18">
            <a:extLst>
              <a:ext uri="{FF2B5EF4-FFF2-40B4-BE49-F238E27FC236}">
                <a16:creationId xmlns:a16="http://schemas.microsoft.com/office/drawing/2014/main" id="{5144761E-A07E-33D7-9ACF-B37DB43CA1C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9</a:t>
            </a:fld>
            <a:endParaRPr/>
          </a:p>
        </p:txBody>
      </p:sp>
      <p:sp>
        <p:nvSpPr>
          <p:cNvPr id="141" name="Google Shape;141;p18">
            <a:extLst>
              <a:ext uri="{FF2B5EF4-FFF2-40B4-BE49-F238E27FC236}">
                <a16:creationId xmlns:a16="http://schemas.microsoft.com/office/drawing/2014/main" id="{72886A3F-17CA-921F-D761-050266BB9D0E}"/>
              </a:ext>
            </a:extLst>
          </p:cNvPr>
          <p:cNvSpPr txBox="1"/>
          <p:nvPr/>
        </p:nvSpPr>
        <p:spPr>
          <a:xfrm>
            <a:off x="3454400" y="6211669"/>
            <a:ext cx="6096000" cy="6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INFORMATION TECHNOLOGY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*Proprietary material of SILVER OAK UNIVERSITY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077632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C77FA233-4F29-8D67-58ED-31B539863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>
            <a:extLst>
              <a:ext uri="{FF2B5EF4-FFF2-40B4-BE49-F238E27FC236}">
                <a16:creationId xmlns:a16="http://schemas.microsoft.com/office/drawing/2014/main" id="{A1A651DC-ECAA-A86E-2A07-BD7AA626F2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Literature Review</a:t>
            </a:r>
            <a:endParaRPr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138" name="Google Shape;138;p18">
            <a:extLst>
              <a:ext uri="{FF2B5EF4-FFF2-40B4-BE49-F238E27FC236}">
                <a16:creationId xmlns:a16="http://schemas.microsoft.com/office/drawing/2014/main" id="{B7A7951F-9029-634A-EF88-EDA23A4A9A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Paper/System 3: ML-Based Energy Prediction</a:t>
            </a:r>
          </a:p>
          <a:p>
            <a:pPr marL="11430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consumption forecasting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 recognition using AI/ML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prediction </a:t>
            </a:r>
          </a:p>
          <a:p>
            <a:pPr marL="11430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only on prediction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integrate cost and carbon analysis</a:t>
            </a:r>
          </a:p>
        </p:txBody>
      </p:sp>
      <p:sp>
        <p:nvSpPr>
          <p:cNvPr id="139" name="Google Shape;139;p18">
            <a:extLst>
              <a:ext uri="{FF2B5EF4-FFF2-40B4-BE49-F238E27FC236}">
                <a16:creationId xmlns:a16="http://schemas.microsoft.com/office/drawing/2014/main" id="{2F47D37E-CAE7-B058-FD5B-1E84D3BDA236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10-09-2025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" name="Google Shape;140;p18">
            <a:extLst>
              <a:ext uri="{FF2B5EF4-FFF2-40B4-BE49-F238E27FC236}">
                <a16:creationId xmlns:a16="http://schemas.microsoft.com/office/drawing/2014/main" id="{E812E501-C668-CA01-7E77-56BD9D515BF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Google Shape;141;p18">
            <a:extLst>
              <a:ext uri="{FF2B5EF4-FFF2-40B4-BE49-F238E27FC236}">
                <a16:creationId xmlns:a16="http://schemas.microsoft.com/office/drawing/2014/main" id="{E299DCD7-CFD1-06B1-CE9F-6C1B3E8858F2}"/>
              </a:ext>
            </a:extLst>
          </p:cNvPr>
          <p:cNvSpPr txBox="1"/>
          <p:nvPr/>
        </p:nvSpPr>
        <p:spPr>
          <a:xfrm>
            <a:off x="3454400" y="6211669"/>
            <a:ext cx="6096000" cy="6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DEPARTMENT OF </a:t>
            </a:r>
            <a:r>
              <a:rPr lang="en-IN"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INFORMATION TECHNOLOGY</a:t>
            </a: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*Proprietary material of SILVER OAK UNIVERSITY</a:t>
            </a: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64561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9476ED9D-101A-4C84-BE3F-E9FF01683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>
            <a:extLst>
              <a:ext uri="{FF2B5EF4-FFF2-40B4-BE49-F238E27FC236}">
                <a16:creationId xmlns:a16="http://schemas.microsoft.com/office/drawing/2014/main" id="{A809C25E-5FBF-FD54-94C5-0D7FD077A2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Literature Review</a:t>
            </a:r>
            <a:endParaRPr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138" name="Google Shape;138;p18">
            <a:extLst>
              <a:ext uri="{FF2B5EF4-FFF2-40B4-BE49-F238E27FC236}">
                <a16:creationId xmlns:a16="http://schemas.microsoft.com/office/drawing/2014/main" id="{F0FF08D2-536A-6099-E8E2-0BABD25466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11430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solutions provide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Monitoring 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Carbon Calculation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Prediction  </a:t>
            </a:r>
          </a:p>
          <a:p>
            <a:pPr marL="11430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they are implemented as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systems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lack a unified platform for complete sustainability analysis.</a:t>
            </a:r>
          </a:p>
          <a:p>
            <a:pPr marL="11430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GreenPlus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bridges the gap between energy analytics and sustainability by providing an AI-powered integrated platform for energy management, carbon reduction, and intelligent decision-making.</a:t>
            </a:r>
          </a:p>
          <a:p>
            <a:pPr marL="11430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Google Shape;139;p18">
            <a:extLst>
              <a:ext uri="{FF2B5EF4-FFF2-40B4-BE49-F238E27FC236}">
                <a16:creationId xmlns:a16="http://schemas.microsoft.com/office/drawing/2014/main" id="{AAEA80EE-DA14-58B6-1898-5779876FB4E2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10-09-2025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" name="Google Shape;140;p18">
            <a:extLst>
              <a:ext uri="{FF2B5EF4-FFF2-40B4-BE49-F238E27FC236}">
                <a16:creationId xmlns:a16="http://schemas.microsoft.com/office/drawing/2014/main" id="{E2124F67-5CBD-6FFE-29F8-0AB5221CDBE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Google Shape;141;p18">
            <a:extLst>
              <a:ext uri="{FF2B5EF4-FFF2-40B4-BE49-F238E27FC236}">
                <a16:creationId xmlns:a16="http://schemas.microsoft.com/office/drawing/2014/main" id="{E916DA84-B330-C8D6-D222-0F24C2341F06}"/>
              </a:ext>
            </a:extLst>
          </p:cNvPr>
          <p:cNvSpPr txBox="1"/>
          <p:nvPr/>
        </p:nvSpPr>
        <p:spPr>
          <a:xfrm>
            <a:off x="3454400" y="6211669"/>
            <a:ext cx="6096000" cy="6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DEPARTMENT OF </a:t>
            </a:r>
            <a:r>
              <a:rPr lang="en-IN"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INFORMATION TECHNOLOGY</a:t>
            </a: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*Proprietary material of SILVER OAK UNIVERSITY</a:t>
            </a: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159521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Objectives</a:t>
            </a:r>
            <a:endParaRPr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147" name="Google Shape;147;p19"/>
          <p:cNvSpPr txBox="1">
            <a:spLocks noGrp="1"/>
          </p:cNvSpPr>
          <p:nvPr>
            <p:ph type="body" idx="1"/>
          </p:nvPr>
        </p:nvSpPr>
        <p:spPr>
          <a:xfrm>
            <a:off x="609600" y="1417637"/>
            <a:ext cx="10972800" cy="4794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11430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Energy Consumption Prediction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ML models to predict energy consumption based on historical and relevant environmental data. </a:t>
            </a:r>
          </a:p>
          <a:p>
            <a:pPr marL="11430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Carbon Footprint Estimation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carbon emissions associated with electricity and energy usage. </a:t>
            </a:r>
          </a:p>
          <a:p>
            <a:pPr marL="11430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Electricity Cost Estimation</a:t>
            </a:r>
          </a:p>
          <a:p>
            <a:pPr marL="11430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Estimate electricity bills using energy consumption and applicable tariff calculations. </a:t>
            </a:r>
          </a:p>
          <a:p>
            <a:pPr marL="11430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Energy Efficiency Analysis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consumption patterns and highlight opportunities for reducing unnecessary energy usage. </a:t>
            </a:r>
          </a:p>
          <a:p>
            <a:pPr marL="11430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8" name="Google Shape;148;p1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10-09-2025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Google Shape;149;p1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Google Shape;150;p19"/>
          <p:cNvSpPr txBox="1"/>
          <p:nvPr/>
        </p:nvSpPr>
        <p:spPr>
          <a:xfrm>
            <a:off x="3454400" y="6211669"/>
            <a:ext cx="6096000" cy="6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DEPARTMENT OF </a:t>
            </a:r>
            <a:r>
              <a:rPr lang="en-IN"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INFORMATION TECHNOLOGY</a:t>
            </a: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*Proprietary material of SILVER OAK UNIVERSITY</a:t>
            </a: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>
          <a:extLst>
            <a:ext uri="{FF2B5EF4-FFF2-40B4-BE49-F238E27FC236}">
              <a16:creationId xmlns:a16="http://schemas.microsoft.com/office/drawing/2014/main" id="{E83924C1-A217-D4ED-3F00-21B80C507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>
            <a:extLst>
              <a:ext uri="{FF2B5EF4-FFF2-40B4-BE49-F238E27FC236}">
                <a16:creationId xmlns:a16="http://schemas.microsoft.com/office/drawing/2014/main" id="{B01B367C-9182-33BC-F5DC-DF02884559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Objectives</a:t>
            </a:r>
            <a:endParaRPr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147" name="Google Shape;147;p19">
            <a:extLst>
              <a:ext uri="{FF2B5EF4-FFF2-40B4-BE49-F238E27FC236}">
                <a16:creationId xmlns:a16="http://schemas.microsoft.com/office/drawing/2014/main" id="{02AEF1C2-BDB2-A398-67EA-D4B1C0BCA5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11430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Personalized Recommendations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actionable recommendations to reduce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consumption, electricity cost, and carbon emissions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11430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Sustainable Energy Adoption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awareness and adoption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renewable and green-energy practices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11430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Integrated Web Platform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the energy, carbon, tariff, ML, and recommendation modules into a single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+ Django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platform</a:t>
            </a:r>
          </a:p>
        </p:txBody>
      </p:sp>
      <p:sp>
        <p:nvSpPr>
          <p:cNvPr id="148" name="Google Shape;148;p19">
            <a:extLst>
              <a:ext uri="{FF2B5EF4-FFF2-40B4-BE49-F238E27FC236}">
                <a16:creationId xmlns:a16="http://schemas.microsoft.com/office/drawing/2014/main" id="{5C738CE8-7267-26DA-9161-7584C7CE25DB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10-09-2025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709A49F-9708-B726-B144-109DE8915BF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08817385-3FF8-B9E7-CC52-8209829DF421}"/>
              </a:ext>
            </a:extLst>
          </p:cNvPr>
          <p:cNvSpPr txBox="1"/>
          <p:nvPr/>
        </p:nvSpPr>
        <p:spPr>
          <a:xfrm>
            <a:off x="3454400" y="6211669"/>
            <a:ext cx="6096000" cy="6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DEPARTMENT OF </a:t>
            </a:r>
            <a:r>
              <a:rPr lang="en-IN"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INFORMATION TECHNOLOGY</a:t>
            </a: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*Proprietary material of SILVER OAK UNIVERSITY</a:t>
            </a: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701545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>
          <a:extLst>
            <a:ext uri="{FF2B5EF4-FFF2-40B4-BE49-F238E27FC236}">
              <a16:creationId xmlns:a16="http://schemas.microsoft.com/office/drawing/2014/main" id="{FEE1C143-14F3-A81B-3DAB-B337CB05F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>
            <a:extLst>
              <a:ext uri="{FF2B5EF4-FFF2-40B4-BE49-F238E27FC236}">
                <a16:creationId xmlns:a16="http://schemas.microsoft.com/office/drawing/2014/main" id="{E5E7AA7D-CA9B-FA41-7482-306660F4DF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Required Tools and Technology</a:t>
            </a:r>
            <a:endParaRPr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156" name="Google Shape;156;p20">
            <a:extLst>
              <a:ext uri="{FF2B5EF4-FFF2-40B4-BE49-F238E27FC236}">
                <a16:creationId xmlns:a16="http://schemas.microsoft.com/office/drawing/2014/main" id="{8E88E389-296E-90C6-C33D-718AA9174C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User interface and dashboard 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Tailwind CSS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Responsive and modern UI design 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Chart.js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Energy, cost, and carbon data visualization</a:t>
            </a:r>
          </a:p>
          <a:p>
            <a:pPr marL="11430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</a:p>
          <a:p>
            <a:pPr algn="just"/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Backend/API and server-side functionality 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User authentication and authorization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AI/ML and energy/carbon processing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7" name="Google Shape;157;p20">
            <a:extLst>
              <a:ext uri="{FF2B5EF4-FFF2-40B4-BE49-F238E27FC236}">
                <a16:creationId xmlns:a16="http://schemas.microsoft.com/office/drawing/2014/main" id="{46F58C65-1806-E28D-B015-037C9C7575B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10-09-2025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Google Shape;158;p20">
            <a:extLst>
              <a:ext uri="{FF2B5EF4-FFF2-40B4-BE49-F238E27FC236}">
                <a16:creationId xmlns:a16="http://schemas.microsoft.com/office/drawing/2014/main" id="{B45A0ADD-705E-1A4E-51B9-ADBFA6318D2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Google Shape;159;p20">
            <a:extLst>
              <a:ext uri="{FF2B5EF4-FFF2-40B4-BE49-F238E27FC236}">
                <a16:creationId xmlns:a16="http://schemas.microsoft.com/office/drawing/2014/main" id="{02B1560E-1206-7CC2-C2AA-804B2A308ACD}"/>
              </a:ext>
            </a:extLst>
          </p:cNvPr>
          <p:cNvSpPr txBox="1"/>
          <p:nvPr/>
        </p:nvSpPr>
        <p:spPr>
          <a:xfrm>
            <a:off x="3454400" y="6211669"/>
            <a:ext cx="6096000" cy="6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DEPARTMENT OF </a:t>
            </a:r>
            <a:r>
              <a:rPr lang="en-IN"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INFORMATION TECHNOLOGY</a:t>
            </a: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*Proprietary material of SILVER OAK UNIVERSITY</a:t>
            </a: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20527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>
          <a:extLst>
            <a:ext uri="{FF2B5EF4-FFF2-40B4-BE49-F238E27FC236}">
              <a16:creationId xmlns:a16="http://schemas.microsoft.com/office/drawing/2014/main" id="{0BF83F03-E6ED-2F9A-A7A2-AB4E36338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>
            <a:extLst>
              <a:ext uri="{FF2B5EF4-FFF2-40B4-BE49-F238E27FC236}">
                <a16:creationId xmlns:a16="http://schemas.microsoft.com/office/drawing/2014/main" id="{643579FB-F149-58DD-A710-544A7D0E9B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Required Tools and Technology</a:t>
            </a:r>
            <a:endParaRPr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156" name="Google Shape;156;p20">
            <a:extLst>
              <a:ext uri="{FF2B5EF4-FFF2-40B4-BE49-F238E27FC236}">
                <a16:creationId xmlns:a16="http://schemas.microsoft.com/office/drawing/2014/main" id="{491894C6-3588-3840-8906-4D6095A717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11430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Store users, energy data, calculations, predictions, and other application data</a:t>
            </a:r>
          </a:p>
          <a:p>
            <a:pPr marL="11430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/ Machine Learning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Data preprocessing and analysis 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Numerical operations 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ML model development and evaluation </a:t>
            </a:r>
          </a:p>
          <a:p>
            <a:pPr algn="just"/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Joblib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Model serialization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7" name="Google Shape;157;p20">
            <a:extLst>
              <a:ext uri="{FF2B5EF4-FFF2-40B4-BE49-F238E27FC236}">
                <a16:creationId xmlns:a16="http://schemas.microsoft.com/office/drawing/2014/main" id="{11F90D14-FFCA-C394-4B1E-32292AEAA09F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10-09-2025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Google Shape;158;p20">
            <a:extLst>
              <a:ext uri="{FF2B5EF4-FFF2-40B4-BE49-F238E27FC236}">
                <a16:creationId xmlns:a16="http://schemas.microsoft.com/office/drawing/2014/main" id="{8AE9ECB2-A822-EFE2-6C17-095478F89F8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Google Shape;159;p20">
            <a:extLst>
              <a:ext uri="{FF2B5EF4-FFF2-40B4-BE49-F238E27FC236}">
                <a16:creationId xmlns:a16="http://schemas.microsoft.com/office/drawing/2014/main" id="{60968924-B68A-372D-F31D-C5256A654FA2}"/>
              </a:ext>
            </a:extLst>
          </p:cNvPr>
          <p:cNvSpPr txBox="1"/>
          <p:nvPr/>
        </p:nvSpPr>
        <p:spPr>
          <a:xfrm>
            <a:off x="3454400" y="6211669"/>
            <a:ext cx="6096000" cy="6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DEPARTMENT OF </a:t>
            </a:r>
            <a:r>
              <a:rPr lang="en-IN"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INFORMATION TECHNOLOGY</a:t>
            </a: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*Proprietary material of SILVER OAK UNIVERSITY</a:t>
            </a: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861101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>
            <a:spLocks noGrp="1"/>
          </p:cNvSpPr>
          <p:nvPr>
            <p:ph type="title"/>
          </p:nvPr>
        </p:nvSpPr>
        <p:spPr>
          <a:xfrm>
            <a:off x="609600" y="265211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Required Tools and Technology</a:t>
            </a:r>
            <a:endParaRPr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156" name="Google Shape;156;p20"/>
          <p:cNvSpPr txBox="1">
            <a:spLocks noGrp="1"/>
          </p:cNvSpPr>
          <p:nvPr>
            <p:ph type="body" idx="1"/>
          </p:nvPr>
        </p:nvSpPr>
        <p:spPr>
          <a:xfrm>
            <a:off x="609600" y="1590774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&amp; Version Control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</a:p>
        </p:txBody>
      </p:sp>
      <p:sp>
        <p:nvSpPr>
          <p:cNvPr id="157" name="Google Shape;157;p20"/>
          <p:cNvSpPr txBox="1">
            <a:spLocks noGrp="1"/>
          </p:cNvSpPr>
          <p:nvPr>
            <p:ph type="dt" idx="10"/>
          </p:nvPr>
        </p:nvSpPr>
        <p:spPr>
          <a:xfrm>
            <a:off x="609600" y="6346924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10-09-2025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Google Shape;158;p20"/>
          <p:cNvSpPr txBox="1">
            <a:spLocks noGrp="1"/>
          </p:cNvSpPr>
          <p:nvPr>
            <p:ph type="sldNum" idx="12"/>
          </p:nvPr>
        </p:nvSpPr>
        <p:spPr>
          <a:xfrm>
            <a:off x="8737600" y="6346924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fld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Google Shape;159;p20"/>
          <p:cNvSpPr txBox="1"/>
          <p:nvPr/>
        </p:nvSpPr>
        <p:spPr>
          <a:xfrm>
            <a:off x="3454400" y="6202242"/>
            <a:ext cx="6096000" cy="6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DEPARTMENT OF </a:t>
            </a:r>
            <a:r>
              <a:rPr lang="en-IN"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INFORMATION TECHNOLOGY</a:t>
            </a: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*Proprietary material of SILVER OAK UNIVERSITY</a:t>
            </a: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/>
          <p:cNvSpPr txBox="1">
            <a:spLocks noGrp="1"/>
          </p:cNvSpPr>
          <p:nvPr>
            <p:ph type="title"/>
          </p:nvPr>
        </p:nvSpPr>
        <p:spPr>
          <a:xfrm>
            <a:off x="609600" y="265211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Method/ Approach</a:t>
            </a:r>
            <a:endParaRPr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165" name="Google Shape;165;p21"/>
          <p:cNvSpPr txBox="1">
            <a:spLocks noGrp="1"/>
          </p:cNvSpPr>
          <p:nvPr>
            <p:ph type="body" idx="1"/>
          </p:nvPr>
        </p:nvSpPr>
        <p:spPr>
          <a:xfrm>
            <a:off x="609600" y="1590774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11430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Project Planning &amp; Requirement Analysis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energy-management problems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GreenPlus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features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required data and system modules </a:t>
            </a:r>
          </a:p>
          <a:p>
            <a:pPr marL="11430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Frontend Development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GreenPlus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interface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dashboard and application components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responsive user interactions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charts and visualizations</a:t>
            </a:r>
          </a:p>
        </p:txBody>
      </p:sp>
      <p:sp>
        <p:nvSpPr>
          <p:cNvPr id="166" name="Google Shape;166;p21"/>
          <p:cNvSpPr txBox="1">
            <a:spLocks noGrp="1"/>
          </p:cNvSpPr>
          <p:nvPr>
            <p:ph type="dt" idx="10"/>
          </p:nvPr>
        </p:nvSpPr>
        <p:spPr>
          <a:xfrm>
            <a:off x="609600" y="6346924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10-09-2025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7" name="Google Shape;167;p21"/>
          <p:cNvSpPr txBox="1">
            <a:spLocks noGrp="1"/>
          </p:cNvSpPr>
          <p:nvPr>
            <p:ph type="sldNum" idx="12"/>
          </p:nvPr>
        </p:nvSpPr>
        <p:spPr>
          <a:xfrm>
            <a:off x="8737600" y="6346924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fld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8" name="Google Shape;168;p21"/>
          <p:cNvSpPr txBox="1"/>
          <p:nvPr/>
        </p:nvSpPr>
        <p:spPr>
          <a:xfrm>
            <a:off x="3454400" y="6202242"/>
            <a:ext cx="6096000" cy="6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DEPARTMENT OF </a:t>
            </a:r>
            <a:r>
              <a:rPr lang="en-IN"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INFORMATION TECHNOLOGY</a:t>
            </a: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*Proprietary material of SILVER OAK UNIVERSITY</a:t>
            </a: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27E1893E-E0A8-C656-5B1E-9169E5BB2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>
            <a:extLst>
              <a:ext uri="{FF2B5EF4-FFF2-40B4-BE49-F238E27FC236}">
                <a16:creationId xmlns:a16="http://schemas.microsoft.com/office/drawing/2014/main" id="{F28FFC89-DBCF-4504-30F1-53B267352D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8406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Method/ Approach</a:t>
            </a:r>
            <a:endParaRPr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165" name="Google Shape;165;p21">
            <a:extLst>
              <a:ext uri="{FF2B5EF4-FFF2-40B4-BE49-F238E27FC236}">
                <a16:creationId xmlns:a16="http://schemas.microsoft.com/office/drawing/2014/main" id="{F5077673-30D0-CD05-1C87-F1EBBD6733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0" y="1345677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UI/UX &amp; Dashboard Design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consumption dashboard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Carbon footprint visualization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Energy/cost analysis </a:t>
            </a:r>
          </a:p>
          <a:p>
            <a:pPr marL="11430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AI/ML Development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and preprocess datasets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feature engineering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and compare ML models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model performance </a:t>
            </a:r>
          </a:p>
        </p:txBody>
      </p:sp>
      <p:sp>
        <p:nvSpPr>
          <p:cNvPr id="166" name="Google Shape;166;p21">
            <a:extLst>
              <a:ext uri="{FF2B5EF4-FFF2-40B4-BE49-F238E27FC236}">
                <a16:creationId xmlns:a16="http://schemas.microsoft.com/office/drawing/2014/main" id="{30C128BB-1E60-6BCB-D930-F5E850C64DD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609600" y="6365778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10-09-2025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7" name="Google Shape;167;p21">
            <a:extLst>
              <a:ext uri="{FF2B5EF4-FFF2-40B4-BE49-F238E27FC236}">
                <a16:creationId xmlns:a16="http://schemas.microsoft.com/office/drawing/2014/main" id="{E07B9966-1F86-9C4A-58A9-31C10C4FCB1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65778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fld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8" name="Google Shape;168;p21">
            <a:extLst>
              <a:ext uri="{FF2B5EF4-FFF2-40B4-BE49-F238E27FC236}">
                <a16:creationId xmlns:a16="http://schemas.microsoft.com/office/drawing/2014/main" id="{2BDD795D-593C-128E-6CC8-3D104295ED0D}"/>
              </a:ext>
            </a:extLst>
          </p:cNvPr>
          <p:cNvSpPr txBox="1"/>
          <p:nvPr/>
        </p:nvSpPr>
        <p:spPr>
          <a:xfrm>
            <a:off x="3454400" y="6221096"/>
            <a:ext cx="6096000" cy="6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DEPARTMENT OF </a:t>
            </a:r>
            <a:r>
              <a:rPr lang="en-IN"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INFORMATION TECHNOLOGY</a:t>
            </a: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*Proprietary material of SILVER OAK UNIVERSITY</a:t>
            </a: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452369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A176A49E-A33A-1166-8536-8EE164995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>
            <a:extLst>
              <a:ext uri="{FF2B5EF4-FFF2-40B4-BE49-F238E27FC236}">
                <a16:creationId xmlns:a16="http://schemas.microsoft.com/office/drawing/2014/main" id="{7A47EEE4-1B87-80C3-1DC0-C2F3734687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Method/ Approach</a:t>
            </a:r>
            <a:endParaRPr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165" name="Google Shape;165;p21">
            <a:extLst>
              <a:ext uri="{FF2B5EF4-FFF2-40B4-BE49-F238E27FC236}">
                <a16:creationId xmlns:a16="http://schemas.microsoft.com/office/drawing/2014/main" id="{518A2E17-8D18-FC70-9BCA-BBF957B644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PHP Backend &amp; PYTHON API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PHP and Python backend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REST APIs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ML models with backend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application data using MONGO DB</a:t>
            </a:r>
          </a:p>
          <a:p>
            <a:pPr marL="11430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Integration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frontend to Python APIs to ML models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predictions and calculations in the dashboard</a:t>
            </a:r>
          </a:p>
        </p:txBody>
      </p:sp>
      <p:sp>
        <p:nvSpPr>
          <p:cNvPr id="166" name="Google Shape;166;p21">
            <a:extLst>
              <a:ext uri="{FF2B5EF4-FFF2-40B4-BE49-F238E27FC236}">
                <a16:creationId xmlns:a16="http://schemas.microsoft.com/office/drawing/2014/main" id="{819E6D07-BC7A-0B09-6996-AAD06D2E5136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10-09-2025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7" name="Google Shape;167;p21">
            <a:extLst>
              <a:ext uri="{FF2B5EF4-FFF2-40B4-BE49-F238E27FC236}">
                <a16:creationId xmlns:a16="http://schemas.microsoft.com/office/drawing/2014/main" id="{F775748E-1995-4B12-8F2F-7142FCDFA5B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fld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8" name="Google Shape;168;p21">
            <a:extLst>
              <a:ext uri="{FF2B5EF4-FFF2-40B4-BE49-F238E27FC236}">
                <a16:creationId xmlns:a16="http://schemas.microsoft.com/office/drawing/2014/main" id="{F3A08778-FDDB-69C0-51E0-E59E4BEB1A22}"/>
              </a:ext>
            </a:extLst>
          </p:cNvPr>
          <p:cNvSpPr txBox="1"/>
          <p:nvPr/>
        </p:nvSpPr>
        <p:spPr>
          <a:xfrm>
            <a:off x="3454400" y="6211669"/>
            <a:ext cx="6096000" cy="6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DEPARTMENT OF </a:t>
            </a:r>
            <a:r>
              <a:rPr lang="en-IN"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INFORMATION TECHNOLOGY</a:t>
            </a: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*Proprietary material of SILVER OAK UNIVERSITY</a:t>
            </a: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557582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BD562EB0-31E8-4F80-3813-790EC9007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>
            <a:extLst>
              <a:ext uri="{FF2B5EF4-FFF2-40B4-BE49-F238E27FC236}">
                <a16:creationId xmlns:a16="http://schemas.microsoft.com/office/drawing/2014/main" id="{58626C64-8317-E987-6A1B-62CED1549E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Method/ Approach</a:t>
            </a:r>
            <a:endParaRPr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165" name="Google Shape;165;p21">
            <a:extLst>
              <a:ext uri="{FF2B5EF4-FFF2-40B4-BE49-F238E27FC236}">
                <a16:creationId xmlns:a16="http://schemas.microsoft.com/office/drawing/2014/main" id="{06AFD54C-7A93-F8B8-203A-39DB22A022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Testing &amp; Evaluation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frontend functionality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API communication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ML predictions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model performance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energy, tariff and carbon calculations</a:t>
            </a:r>
          </a:p>
        </p:txBody>
      </p:sp>
      <p:sp>
        <p:nvSpPr>
          <p:cNvPr id="166" name="Google Shape;166;p21">
            <a:extLst>
              <a:ext uri="{FF2B5EF4-FFF2-40B4-BE49-F238E27FC236}">
                <a16:creationId xmlns:a16="http://schemas.microsoft.com/office/drawing/2014/main" id="{FC22EBAF-2CF2-CF0F-111F-FED44194C3EA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10-09-2025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7" name="Google Shape;167;p21">
            <a:extLst>
              <a:ext uri="{FF2B5EF4-FFF2-40B4-BE49-F238E27FC236}">
                <a16:creationId xmlns:a16="http://schemas.microsoft.com/office/drawing/2014/main" id="{4025B4BF-81CC-4577-6453-9556D3B4B1E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fld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8" name="Google Shape;168;p21">
            <a:extLst>
              <a:ext uri="{FF2B5EF4-FFF2-40B4-BE49-F238E27FC236}">
                <a16:creationId xmlns:a16="http://schemas.microsoft.com/office/drawing/2014/main" id="{33BCA42D-4280-1C6D-5DFE-809603322961}"/>
              </a:ext>
            </a:extLst>
          </p:cNvPr>
          <p:cNvSpPr txBox="1"/>
          <p:nvPr/>
        </p:nvSpPr>
        <p:spPr>
          <a:xfrm>
            <a:off x="3454400" y="6211669"/>
            <a:ext cx="6096000" cy="6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DEPARTMENT OF </a:t>
            </a:r>
            <a:r>
              <a:rPr lang="en-IN"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INFORMATION TECHNOLOGY</a:t>
            </a: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*Proprietary material of SILVER OAK UNIVERSITY</a:t>
            </a: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960093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>
          <a:extLst>
            <a:ext uri="{FF2B5EF4-FFF2-40B4-BE49-F238E27FC236}">
              <a16:creationId xmlns:a16="http://schemas.microsoft.com/office/drawing/2014/main" id="{85868068-13AF-6643-32E8-411AAB7BF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">
            <a:extLst>
              <a:ext uri="{FF2B5EF4-FFF2-40B4-BE49-F238E27FC236}">
                <a16:creationId xmlns:a16="http://schemas.microsoft.com/office/drawing/2014/main" id="{63972B58-47D5-E94B-9F16-48ACA4BEA7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Bibliography</a:t>
            </a:r>
            <a:endParaRPr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174" name="Google Shape;174;p22">
            <a:extLst>
              <a:ext uri="{FF2B5EF4-FFF2-40B4-BE49-F238E27FC236}">
                <a16:creationId xmlns:a16="http://schemas.microsoft.com/office/drawing/2014/main" id="{B50DF821-44AD-F831-D17D-71B05BD776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IEEE Xplore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https://ieeexplore.ieee.org/abstract/document/11498721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Springer Nature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https://link.springer.com/article/10.1007/s43621-025-02186-6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IEEE Xplore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https://ieeexplore.ieee.org/abstract/document/10816871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Springer Nature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https://link.springer.com/article/10.1007/s43681-026-01251-8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" name="Google Shape;175;p22">
            <a:extLst>
              <a:ext uri="{FF2B5EF4-FFF2-40B4-BE49-F238E27FC236}">
                <a16:creationId xmlns:a16="http://schemas.microsoft.com/office/drawing/2014/main" id="{7AD768AB-AC53-CB4A-EF8B-A20DBAA6C311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10-09-2025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6" name="Google Shape;176;p22">
            <a:extLst>
              <a:ext uri="{FF2B5EF4-FFF2-40B4-BE49-F238E27FC236}">
                <a16:creationId xmlns:a16="http://schemas.microsoft.com/office/drawing/2014/main" id="{D1264410-A1E8-20BA-F0D4-8A8198C95CC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fld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7" name="Google Shape;177;p22">
            <a:extLst>
              <a:ext uri="{FF2B5EF4-FFF2-40B4-BE49-F238E27FC236}">
                <a16:creationId xmlns:a16="http://schemas.microsoft.com/office/drawing/2014/main" id="{1CB08301-6B28-D64D-7AD7-5F30988B1146}"/>
              </a:ext>
            </a:extLst>
          </p:cNvPr>
          <p:cNvSpPr txBox="1"/>
          <p:nvPr/>
        </p:nvSpPr>
        <p:spPr>
          <a:xfrm>
            <a:off x="3454400" y="6211669"/>
            <a:ext cx="6096000" cy="6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DEPARTMENT OF </a:t>
            </a:r>
            <a:r>
              <a:rPr lang="en-IN" sz="18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INFORMATION TECHNOLOGY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*Proprietary material of SILVER OAK UNIVERSITY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260828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Bibliography</a:t>
            </a:r>
            <a:endParaRPr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174" name="Google Shape;174;p22"/>
          <p:cNvSpPr txBox="1">
            <a:spLocks noGrp="1"/>
          </p:cNvSpPr>
          <p:nvPr>
            <p:ph type="body" idx="1"/>
          </p:nvPr>
        </p:nvSpPr>
        <p:spPr>
          <a:xfrm>
            <a:off x="543612" y="1260836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Scikit-learn,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Scikit-learn: Machine Learning in Python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Official Documentation.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https://scikit-learn.org/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Software Foundation,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Documentation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https://docs.python.org/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Meta,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Documentation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Official Documentation.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https://react.dev/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Tailwind Labs,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Tailwind CSS Documentation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https://tailwindcss.com/docs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Char char="•"/>
            </a:pPr>
            <a:endParaRPr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175" name="Google Shape;175;p2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10-09-2025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6" name="Google Shape;176;p2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fld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7" name="Google Shape;177;p22"/>
          <p:cNvSpPr txBox="1"/>
          <p:nvPr/>
        </p:nvSpPr>
        <p:spPr>
          <a:xfrm>
            <a:off x="3454400" y="6211669"/>
            <a:ext cx="6096000" cy="6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DEPARTMENT OF </a:t>
            </a:r>
            <a:r>
              <a:rPr lang="en-IN" sz="18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INFORMATION TECHNOLOGY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*Proprietary material of SILVER OAK UNIVERSITY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>
          <a:extLst>
            <a:ext uri="{FF2B5EF4-FFF2-40B4-BE49-F238E27FC236}">
              <a16:creationId xmlns:a16="http://schemas.microsoft.com/office/drawing/2014/main" id="{1C3978FB-9FCD-FCD8-2737-8C1B63CD9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">
            <a:extLst>
              <a:ext uri="{FF2B5EF4-FFF2-40B4-BE49-F238E27FC236}">
                <a16:creationId xmlns:a16="http://schemas.microsoft.com/office/drawing/2014/main" id="{35BB554D-78EF-7B58-3C0C-7CABD48102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Bibliography</a:t>
            </a:r>
            <a:endParaRPr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174" name="Google Shape;174;p22">
            <a:extLst>
              <a:ext uri="{FF2B5EF4-FFF2-40B4-BE49-F238E27FC236}">
                <a16:creationId xmlns:a16="http://schemas.microsoft.com/office/drawing/2014/main" id="{65B98719-B902-4DB1-3E56-E538DF5439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MongoDB,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Documentation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https://www.mongodb.com/docs/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PHP Documentation Group,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 Manual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https://www.php.net/docs.php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Pandas Development Team,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Documentation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https://pandas.pydata.org/docs/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[12]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NumPy Developers,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 Documentation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https://numpy.org/doc/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" name="Google Shape;175;p22">
            <a:extLst>
              <a:ext uri="{FF2B5EF4-FFF2-40B4-BE49-F238E27FC236}">
                <a16:creationId xmlns:a16="http://schemas.microsoft.com/office/drawing/2014/main" id="{6CDA7F63-E6F7-C7D0-9E89-E9A9C3ADD17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10-09-2025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6" name="Google Shape;176;p22">
            <a:extLst>
              <a:ext uri="{FF2B5EF4-FFF2-40B4-BE49-F238E27FC236}">
                <a16:creationId xmlns:a16="http://schemas.microsoft.com/office/drawing/2014/main" id="{117F04D4-80F7-6849-A8A4-B558F412A5E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fld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7" name="Google Shape;177;p22">
            <a:extLst>
              <a:ext uri="{FF2B5EF4-FFF2-40B4-BE49-F238E27FC236}">
                <a16:creationId xmlns:a16="http://schemas.microsoft.com/office/drawing/2014/main" id="{1F69E7BC-975D-DCEE-179E-4F10D2CEE7CC}"/>
              </a:ext>
            </a:extLst>
          </p:cNvPr>
          <p:cNvSpPr txBox="1"/>
          <p:nvPr/>
        </p:nvSpPr>
        <p:spPr>
          <a:xfrm>
            <a:off x="3454400" y="6211669"/>
            <a:ext cx="6096000" cy="6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DEPARTMENT OF </a:t>
            </a:r>
            <a:r>
              <a:rPr lang="en-IN"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INFORMATION TECHNOLOGY</a:t>
            </a: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*Proprietary material of SILVER OAK UNIVERSITY</a:t>
            </a: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30133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535</TotalTime>
  <Words>1469</Words>
  <Application>Microsoft Office PowerPoint</Application>
  <PresentationFormat>Widescreen</PresentationFormat>
  <Paragraphs>268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Cambria</vt:lpstr>
      <vt:lpstr>Times New Roman</vt:lpstr>
      <vt:lpstr>Office Theme</vt:lpstr>
      <vt:lpstr>PowerPoint Presentation</vt:lpstr>
      <vt:lpstr>Index</vt:lpstr>
      <vt:lpstr>Introduction</vt:lpstr>
      <vt:lpstr>Background and Motivation</vt:lpstr>
      <vt:lpstr>Background and Motivation</vt:lpstr>
      <vt:lpstr>Relevance and Importance</vt:lpstr>
      <vt:lpstr>Relevance and Importance</vt:lpstr>
      <vt:lpstr>Literature Review</vt:lpstr>
      <vt:lpstr>Literature Review</vt:lpstr>
      <vt:lpstr>Literature Review</vt:lpstr>
      <vt:lpstr>Literature Review</vt:lpstr>
      <vt:lpstr>Objectives</vt:lpstr>
      <vt:lpstr>Objectives</vt:lpstr>
      <vt:lpstr>Required Tools and Technology</vt:lpstr>
      <vt:lpstr>Required Tools and Technology</vt:lpstr>
      <vt:lpstr>Required Tools and Technology</vt:lpstr>
      <vt:lpstr>Method/ Approach</vt:lpstr>
      <vt:lpstr>Method/ Approach</vt:lpstr>
      <vt:lpstr>Method/ Approach</vt:lpstr>
      <vt:lpstr>Method/ Approach</vt:lpstr>
      <vt:lpstr>Bibliography</vt:lpstr>
      <vt:lpstr>Bibliography</vt:lpstr>
      <vt:lpstr>Bibliography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DELL</dc:creator>
  <cp:lastModifiedBy>Krish Patel</cp:lastModifiedBy>
  <cp:revision>3</cp:revision>
  <dcterms:modified xsi:type="dcterms:W3CDTF">2026-08-22T10:59:06Z</dcterms:modified>
</cp:coreProperties>
</file>